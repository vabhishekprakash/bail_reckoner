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0314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0314B"/>
                </a:solidFill>
                <a:latin typeface="Calibri"/>
              </a:rPr>
              <a:t>Composition of the prison population, 2024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Prison population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C3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1A0-40DA-86CC-028A0AD2872E}"/>
              </c:ext>
            </c:extLst>
          </c:dPt>
          <c:dPt>
            <c:idx val="1"/>
            <c:bubble3D val="0"/>
            <c:spPr>
              <a:solidFill>
                <a:srgbClr val="C9D4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1A0-40DA-86CC-028A0AD2872E}"/>
              </c:ext>
            </c:extLst>
          </c:dPt>
          <c:cat>
            <c:strRef>
              <c:f>Sheet1!$A$2:$A$3</c:f>
              <c:strCache>
                <c:ptCount val="2"/>
                <c:pt idx="0">
                  <c:v>Undertrials (72.6%)</c:v>
                </c:pt>
                <c:pt idx="1">
                  <c:v>Convicts and others (27.4%)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72.599999999999994</c:v>
                </c:pt>
                <c:pt idx="1">
                  <c:v>27.4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A0-40DA-86CC-028A0AD287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0314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0314B"/>
                </a:solidFill>
                <a:latin typeface="Calibri"/>
              </a:rPr>
              <a:t>Section 479 BNSS outcomes, all States/UTs (as on 26.11.2024)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Prisoners</c:v>
                </c:pt>
              </c:strCache>
            </c:strRef>
          </c:tx>
          <c:spPr>
            <a:solidFill>
              <a:srgbClr val="B08D3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F8B-4BC8-B122-FC076AB39431}"/>
              </c:ext>
            </c:extLst>
          </c:dPt>
          <c:dPt>
            <c:idx val="1"/>
            <c:invertIfNegative val="0"/>
            <c:bubble3D val="0"/>
            <c:spPr>
              <a:solidFill>
                <a:srgbClr val="9C3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8B-4BC8-B122-FC076AB3943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0314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Identified as eligible</c:v>
                </c:pt>
                <c:pt idx="1">
                  <c:v>Granted bail by a court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951</c:v>
                </c:pt>
                <c:pt idx="1">
                  <c:v>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F8B-4BC8-B122-FC076AB394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0314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0"/>
          <c:min val="0"/>
        </c:scaling>
        <c:delete val="0"/>
        <c:axPos val="b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0314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0314B"/>
                </a:solidFill>
                <a:latin typeface="Calibri"/>
              </a:rPr>
              <a:t>Published Indian bail-prediction baselines (accuracy)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F4E6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F58-4926-8CA5-EC6D671B806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F58-4926-8CA5-EC6D671B8069}"/>
              </c:ext>
            </c:extLst>
          </c:dPt>
          <c:dPt>
            <c:idx val="2"/>
            <c:invertIfNegative val="0"/>
            <c:bubble3D val="0"/>
            <c:spPr>
              <a:solidFill>
                <a:srgbClr val="5A6B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F58-4926-8CA5-EC6D671B8069}"/>
              </c:ext>
            </c:extLst>
          </c:dPt>
          <c:dPt>
            <c:idx val="3"/>
            <c:invertIfNegative val="0"/>
            <c:bubble3D val="0"/>
            <c:spPr>
              <a:solidFill>
                <a:srgbClr val="9C3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F58-4926-8CA5-EC6D671B806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0314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HLDC multi-task (ACL 2022)</c:v>
                </c:pt>
                <c:pt idx="1">
                  <c:v>IBPS fine-tuned Phi-4</c:v>
                </c:pt>
                <c:pt idx="2">
                  <c:v>IBPS baseline</c:v>
                </c:pt>
                <c:pt idx="3">
                  <c:v>IBPS baseline + naive RAG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0.79</c:v>
                </c:pt>
                <c:pt idx="2">
                  <c:v>0.47</c:v>
                </c:pt>
                <c:pt idx="3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F58-4926-8CA5-EC6D671B80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0314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82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 SIH1702, raised by the Ministry of Law &amp; Justice. The title and scope are assigned, not chosen — the innovation has to live in the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every figure to the report year. Never say "75% of prisoners are undertrials" without the source and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slide for a legal evaluator. Asymmetric error handling is a design requirement, not a UX nicety.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Phi-3 Mini is chosen on compute grounds — the deployment target is a district legal-services office or a prison network, not a GPU cluster. Its weakness on Indic languages is handled by a separate translation layer, and that is stated rather than glossed.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1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" cy="91"/>
          </a:xfrm>
          <a:prstGeom prst="rect">
            <a:avLst/>
          </a:prstGeom>
          <a:solidFill>
            <a:srgbClr val="1031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8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SIH1702  ·  MINISTRY OF LAW &amp; JUSTICE, GOVERNMENT OF INDIA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"Bail Reckoner"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54203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9C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Intelligent Legal Assistance System for Streamlining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B9C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Bail Eligibility and Application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621024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computes what the statute already provides — and shows the working.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predict bail outcomes and it does not model judicial discretion.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Vallamalla Abhishek Prakash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508406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237Y1A66C5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48463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Revuru Arya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508406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237Y1A66D0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48463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Modhumpally Arvind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508406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237Y1A66C9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15400" y="48463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Boru Vimala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15400" y="508406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237Y1A66I3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5870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 &amp; ML)  ·  Batch 9  ·  MLRS24-169  ·  Marri Laxman Reddy Institute of Technology and Management, Hyderabad  ·  Major Project 2026–27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A6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India’s prisons mostly hold people who have not been convicted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615184" cy="1298448"/>
          </a:xfrm>
          <a:prstGeom prst="roundRect">
            <a:avLst>
              <a:gd name="adj" fmla="val 4225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9344"/>
            <a:ext cx="2432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5,11,542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inmates in 1,333 jails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46704" y="1481328"/>
            <a:ext cx="2615184" cy="1298448"/>
          </a:xfrm>
          <a:prstGeom prst="roundRect">
            <a:avLst>
              <a:gd name="adj" fmla="val 4225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38144" y="1609344"/>
            <a:ext cx="2432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4,53,769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38144" y="2212848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capacity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1481328"/>
            <a:ext cx="2615184" cy="1298448"/>
          </a:xfrm>
          <a:prstGeom prst="roundRect">
            <a:avLst>
              <a:gd name="adj" fmla="val 4225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1609344"/>
            <a:ext cx="2432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112.7%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36208" y="2212848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occupancy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42832" y="1481328"/>
            <a:ext cx="2615184" cy="1298448"/>
          </a:xfrm>
          <a:prstGeom prst="roundRect">
            <a:avLst>
              <a:gd name="adj" fmla="val 4225"/>
            </a:avLst>
          </a:prstGeom>
          <a:solidFill>
            <a:srgbClr val="FBF0EE"/>
          </a:solidFill>
          <a:ln w="20320">
            <a:solidFill>
              <a:srgbClr val="9C3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34272" y="1609344"/>
            <a:ext cx="2432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C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3,71,440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34272" y="2212848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undertrial prisoners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02920" y="3017520"/>
          <a:ext cx="41148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4892040" y="3154680"/>
            <a:ext cx="67208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66360" y="331012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mean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166360" y="3675888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fell to a decade low of 112.7% — but only because capacity grew, not because fewer people are held pre-trial.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is the most overcrowded State/UT at 194.6%; Meghalaya follows at 163.5%.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9,028 undertrials — 2.4% of them — have been in custody more than five years without a conviction.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share are held not on the merits of their case, but because nobody computed what the law already allows.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NCRB, Prison Statistics India 2024 (as on 31 December 2024). See references slide.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A6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Parliament already fixed this. The fix is not reaching people.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8F3E7"/>
          </a:solidFill>
          <a:ln w="17780">
            <a:solidFill>
              <a:srgbClr val="B08D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479(3) BNSS places the duty on the jail Superintendent — not on the prisoner — to apply to the Court "forthwith" once the threshold is crossed.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783080" cy="1371600"/>
          </a:xfrm>
          <a:prstGeom prst="roundRect">
            <a:avLst>
              <a:gd name="adj" fmla="val 4000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2944368"/>
            <a:ext cx="1673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03504" y="3493008"/>
            <a:ext cx="1673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eligible, all India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2834640"/>
            <a:ext cx="1783080" cy="1371600"/>
          </a:xfrm>
          <a:prstGeom prst="roundRect">
            <a:avLst>
              <a:gd name="adj" fmla="val 4000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23744" y="2944368"/>
            <a:ext cx="1673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C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23744" y="3493008"/>
            <a:ext cx="1673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granted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 by a court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2834640"/>
            <a:ext cx="1783080" cy="1371600"/>
          </a:xfrm>
          <a:prstGeom prst="roundRect">
            <a:avLst>
              <a:gd name="adj" fmla="val 4000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2944368"/>
            <a:ext cx="1673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C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0.26%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43984" y="3493008"/>
            <a:ext cx="1673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undertrials were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identified</a:t>
            </a:r>
            <a:endParaRPr lang="en-US" sz="105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629400" y="1417320"/>
          <a:ext cx="49834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548640" y="4434840"/>
            <a:ext cx="110642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20320">
            <a:solidFill>
              <a:srgbClr val="9C3A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45720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not judicial refusal. </a:t>
            </a:r>
            <a:r>
              <a:rPr lang="en-US" sz="130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that the computation — which offence, which code, what maximum sentence, how long in custody, does s.479(2) bar it — is never performed. The Supreme Court has repeatedly directed States and UTs to act proactively; MHA issued an advisory in October 2024. The arithmetic still has to be done by someone.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PIB / MHA figures as on 26.11.2024; data.gov.in; NCRB PSI 2024. See references slide.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A6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 WE ENCODE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479 BNSS, 2023 — the statutory spine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7872" cy="4160520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22860">
            <a:solidFill>
              <a:srgbClr val="1F4E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81328"/>
            <a:ext cx="3547872" cy="749808"/>
          </a:xfrm>
          <a:prstGeom prst="roundRect">
            <a:avLst>
              <a:gd name="adj" fmla="val 7317"/>
            </a:avLst>
          </a:prstGeom>
          <a:solidFill>
            <a:srgbClr val="1F4E6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544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s.479(1)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18653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entitlement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314553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Detention for one-half of the maximum prescribed sentence → release on bail.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proviso: a first-time offender qualifies at one-third, released on bond. No CrPC predecessor.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proviso: continued detention only after hearing the Public Prosecutor, for reasons recorded in writing.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proviso: never longer than the maximum sentence itself.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 where death or life imprisonment is prescribed.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481328"/>
            <a:ext cx="3547872" cy="4160520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22860">
            <a:solidFill>
              <a:srgbClr val="9C3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9392" y="1481328"/>
            <a:ext cx="3547872" cy="749808"/>
          </a:xfrm>
          <a:prstGeom prst="roundRect">
            <a:avLst>
              <a:gd name="adj" fmla="val 7317"/>
            </a:avLst>
          </a:prstGeom>
          <a:solidFill>
            <a:srgbClr val="9C3A2E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5544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s.479(2)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480560" y="18653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exclusion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2377440"/>
            <a:ext cx="314553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"…where an investigation, inquiry or trial in more than one offence or in multiple cases are pending against a person, he shall not be released on bail by the Court."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equivalent existed in s.436A CrPC.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by the Karnataka High Court in K. Ramakrishna v. ED (23 Nov 2024): 479(1) and 479(2) must be read conjointly.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10144" y="1481328"/>
            <a:ext cx="3547872" cy="4160520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22860">
            <a:solidFill>
              <a:srgbClr val="2F6B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0144" y="1481328"/>
            <a:ext cx="3547872" cy="749808"/>
          </a:xfrm>
          <a:prstGeom prst="roundRect">
            <a:avLst>
              <a:gd name="adj" fmla="val 7317"/>
            </a:avLst>
          </a:prstGeom>
          <a:solidFill>
            <a:srgbClr val="2F6B4F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15544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s.479(3)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211312" y="18653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duty — and our hook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11312" y="2377440"/>
            <a:ext cx="314553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Superintendent of jail "shall forthwith make an application in writing to the Court" once the threshold is crossed.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officer. A computable moment. A required document.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Auto-drafting that application needs no judicial discretion — and is the strongest single feature available inside this problem statement.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text quoted from bare-act reproductions and cross-checked; to be verified against the official gazette before encoding. See references slide.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31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THAT CHANGES THE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engine that computes the fraction but ignores s.479(2)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confidently tell people they are eligible when the statute says they are not.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3547872" cy="1810512"/>
          </a:xfrm>
          <a:prstGeom prst="roundRect">
            <a:avLst>
              <a:gd name="adj" fmla="val 3030"/>
            </a:avLst>
          </a:prstGeom>
          <a:solidFill>
            <a:srgbClr val="17405F"/>
          </a:solidFill>
          <a:ln w="15240">
            <a:solidFill>
              <a:srgbClr val="2C5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3127248"/>
            <a:ext cx="384048" cy="384048"/>
          </a:xfrm>
          <a:prstGeom prst="ellipse">
            <a:avLst/>
          </a:prstGeom>
          <a:solidFill>
            <a:srgbClr val="B08D3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98448" y="310896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Multi-offence FIRs are the norm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3657600"/>
            <a:ext cx="30540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charge sheets routinely carry several sections, so the exception has been criticised as risking swallowing the rule.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9392" y="2926080"/>
            <a:ext cx="3547872" cy="1810512"/>
          </a:xfrm>
          <a:prstGeom prst="roundRect">
            <a:avLst>
              <a:gd name="adj" fmla="val 3030"/>
            </a:avLst>
          </a:prstGeom>
          <a:solidFill>
            <a:srgbClr val="17405F"/>
          </a:solidFill>
          <a:ln w="15240">
            <a:solidFill>
              <a:srgbClr val="2C5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3127248"/>
            <a:ext cx="384048" cy="384048"/>
          </a:xfrm>
          <a:prstGeom prst="ellipse">
            <a:avLst/>
          </a:prstGeom>
          <a:solidFill>
            <a:srgbClr val="B08D3F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310896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wrong "eligible" is survivable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35424" y="3657600"/>
            <a:ext cx="30540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court catches it. It costs credibility, not liberty.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2926080"/>
            <a:ext cx="3547872" cy="1810512"/>
          </a:xfrm>
          <a:prstGeom prst="roundRect">
            <a:avLst>
              <a:gd name="adj" fmla="val 3030"/>
            </a:avLst>
          </a:prstGeom>
          <a:solidFill>
            <a:srgbClr val="17405F"/>
          </a:solidFill>
          <a:ln w="15240">
            <a:solidFill>
              <a:srgbClr val="2C5A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3127248"/>
            <a:ext cx="384048" cy="384048"/>
          </a:xfrm>
          <a:prstGeom prst="ellipse">
            <a:avLst/>
          </a:prstGeom>
          <a:solidFill>
            <a:srgbClr val="B08D3F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59952" y="310896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wrong "ineligible" is not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66176" y="3657600"/>
            <a:ext cx="30540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appeals a machine’s silence. The person simply stays inside.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956048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17405F"/>
          </a:solidFill>
          <a:ln w="20320">
            <a:solidFill>
              <a:srgbClr val="B08D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074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consequence: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s.479(2) is a hard gate evaluated before any threshold arithmetic is reported, and the system is built with no "ineligible" output state — only "no statutory entitlement identified on these inputs — human review required".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A6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DOES NOT HAPPEN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steps, done by hand, for every single prisoner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11247120" cy="27066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370832"/>
            <a:ext cx="3547872" cy="1481328"/>
          </a:xfrm>
          <a:prstGeom prst="roundRect">
            <a:avLst>
              <a:gd name="adj" fmla="val 3704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449884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actually does this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49808" y="4809744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DLSA paralegal volunteer, a jail clerk, a family member — frequently with no lawyer involved at all.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79392" y="4370832"/>
            <a:ext cx="3547872" cy="1481328"/>
          </a:xfrm>
          <a:prstGeom prst="roundRect">
            <a:avLst>
              <a:gd name="adj" fmla="val 3704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80560" y="449884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breaks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480560" y="4809744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sheets are scanned, partly handwritten, in regional languages. Date of arrest and date of remand differ, and the difference changes the arithmetic.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10144" y="4370832"/>
            <a:ext cx="3547872" cy="1481328"/>
          </a:xfrm>
          <a:prstGeom prst="roundRect">
            <a:avLst>
              <a:gd name="adj" fmla="val 3704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11312" y="449884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11312" y="4809744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 of delay after the qualifying date is a week of custody the law did not require.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A6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already exists — and the layer that does not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6858000" cy="9144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031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police, prosecution, courts, prisons and forensics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records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031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e-Prisons / BOMS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Prison management and bail-order management portals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records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031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Electronically transmits bail and release orders to jails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orders, after bail is granted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031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UTRCs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 committees that review undertrials for release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process, needs candidate lists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031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e-Courts / NJDG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Judicial data infrastructure and case records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records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481328"/>
            <a:ext cx="6858000" cy="457200"/>
          </a:xfrm>
          <a:prstGeom prst="rect">
            <a:avLst/>
          </a:prstGeom>
          <a:solidFill>
            <a:srgbClr val="10314B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4813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331720" y="14813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4" name="Text 5"/>
          <p:cNvSpPr/>
          <p:nvPr/>
        </p:nvSpPr>
        <p:spPr>
          <a:xfrm>
            <a:off x="5669280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26680" y="1481328"/>
            <a:ext cx="3886200" cy="2788920"/>
          </a:xfrm>
          <a:prstGeom prst="roundRect">
            <a:avLst>
              <a:gd name="adj" fmla="val 1967"/>
            </a:avLst>
          </a:prstGeom>
          <a:solidFill>
            <a:srgbClr val="F8F3E7"/>
          </a:solidFill>
          <a:ln w="22860">
            <a:solidFill>
              <a:srgbClr val="B08D3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164592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claim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true that "no digital tool exists". Several national systems do, and an informed evaluator will know them.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0" y="288036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true — and stronger — is that these systems transmit records and orders. None of them computes bail entitlement under Section 479. That reasoning layer is the contribution.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45720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7091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Bail Reckoner is designed to consume ICJS-shaped data, sit behind e-Prisons, feed UTRC candidate lists, and discharge the s.479(3) duty — an integration target, not a competitor.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31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8745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machine that does the bookkeeping of liberty.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9C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 not decide who deserves bail. It makes visible who is already entitled to it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B9C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is still in custody because nobody did the arithmetic.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4069080"/>
            <a:ext cx="2587752" cy="1417320"/>
          </a:xfrm>
          <a:prstGeom prst="roundRect">
            <a:avLst>
              <a:gd name="adj" fmla="val 3871"/>
            </a:avLst>
          </a:prstGeom>
          <a:solidFill>
            <a:srgbClr val="17405F"/>
          </a:solidFill>
          <a:ln w="15240">
            <a:solidFill>
              <a:srgbClr val="2C5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2062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4572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offences and sections from the charge sheet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9272" y="4069080"/>
            <a:ext cx="2587752" cy="1417320"/>
          </a:xfrm>
          <a:prstGeom prst="roundRect">
            <a:avLst>
              <a:gd name="adj" fmla="val 3871"/>
            </a:avLst>
          </a:prstGeom>
          <a:solidFill>
            <a:srgbClr val="17405F"/>
          </a:solidFill>
          <a:ln w="15240">
            <a:solidFill>
              <a:srgbClr val="2C5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42062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20440" y="4572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s.479 entitlement deterministically, gate by gate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9904" y="4069080"/>
            <a:ext cx="2587752" cy="1417320"/>
          </a:xfrm>
          <a:prstGeom prst="roundRect">
            <a:avLst>
              <a:gd name="adj" fmla="val 3871"/>
            </a:avLst>
          </a:prstGeom>
          <a:solidFill>
            <a:srgbClr val="17405F"/>
          </a:solidFill>
          <a:ln w="15240">
            <a:solidFill>
              <a:srgbClr val="2C5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42062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91072" y="4572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provision behind every step and stamps the law version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60536" y="4069080"/>
            <a:ext cx="2587752" cy="1417320"/>
          </a:xfrm>
          <a:prstGeom prst="roundRect">
            <a:avLst>
              <a:gd name="adj" fmla="val 3871"/>
            </a:avLst>
          </a:prstGeom>
          <a:solidFill>
            <a:srgbClr val="17405F"/>
          </a:solidFill>
          <a:ln w="15240">
            <a:solidFill>
              <a:srgbClr val="2C5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61704" y="42062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061704" y="4572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s.479(3) application for the jail Superintendent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A6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 — the model extracts, deterministic code decides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1298448"/>
            <a:ext cx="9564624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A6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eligibility engine, gate by gate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1298448"/>
            <a:ext cx="8513064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72768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" y="1664208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Gates 1–3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76656" y="1938528"/>
            <a:ext cx="1527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statutory bars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" y="2807208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4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6656" y="3081528"/>
            <a:ext cx="1527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⅓ or ½ — not a bar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858768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" y="3950208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5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76656" y="4224528"/>
            <a:ext cx="1527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arithmetic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5001768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" y="5093208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emitted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6656" y="5367528"/>
            <a:ext cx="1527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"ineligible" verdict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A6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JUDICIAL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Satender Kumar Antil v. CBI (2022) as the rules-engine backbone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Supreme Court has already produced a categorised bail framework. Building a bail rules engine without it means building the second version of something that exists in judicial form.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85416"/>
            <a:ext cx="384048" cy="384048"/>
          </a:xfrm>
          <a:prstGeom prst="ellipse">
            <a:avLst/>
          </a:prstGeom>
          <a:solidFill>
            <a:srgbClr val="1F4E68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011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Imprisonment of 7 years or less, not in Categories B or 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72200" y="20116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summons route; strong presumption toward release; s.479 arithmetic applied directly.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5351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3218688"/>
            <a:ext cx="384048" cy="384048"/>
          </a:xfrm>
          <a:prstGeom prst="ellipse">
            <a:avLst/>
          </a:prstGeom>
          <a:solidFill>
            <a:srgbClr val="1F4E68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04495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Death, life imprisonment, or more than 7 years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72200" y="304495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and life offences are excluded from s.479(1) by the main clause; otherwise merits-based, flagged for counsel.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86784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251960"/>
            <a:ext cx="384048" cy="384048"/>
          </a:xfrm>
          <a:prstGeom prst="ellipse">
            <a:avLst/>
          </a:prstGeom>
          <a:solidFill>
            <a:srgbClr val="9C3A2E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07822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Acts with stringent bail provisions — NDPS s.37, PMLA s.45, UAPA s.43-D(5), Companies Act s.212(6), POCSO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72200" y="4078224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statute-specific bar is raised as a blocking condition; s.479 benefit reported only with that test attached.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20056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5285232"/>
            <a:ext cx="384048" cy="384048"/>
          </a:xfrm>
          <a:prstGeom prst="ellipse">
            <a:avLst/>
          </a:prstGeom>
          <a:solidFill>
            <a:srgbClr val="1F4E6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11149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offences not covered by special Acts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72200" y="5111496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Merits-based; seriousness and quantum surfaced as facts, never scored.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Satender Kumar Antil v. CBI, judgment of 11 July 2022; on s.479 and PMLA see Badshah Majid Malik v. ED (SC, 27 December 2024). See references slide.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A6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user actually receives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1298448"/>
            <a:ext cx="8467344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857232" y="1481328"/>
            <a:ext cx="1755648" cy="1005840"/>
          </a:xfrm>
          <a:prstGeom prst="roundRect">
            <a:avLst>
              <a:gd name="adj" fmla="val 5455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976104" y="1554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working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976104" y="18653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is not the deliverable. The table is.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857232" y="2670048"/>
            <a:ext cx="1755648" cy="1005840"/>
          </a:xfrm>
          <a:prstGeom prst="roundRect">
            <a:avLst>
              <a:gd name="adj" fmla="val 5455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976104" y="2743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 the provision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976104" y="305409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gate names the sub-section it applied.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857232" y="3858768"/>
            <a:ext cx="1755648" cy="1005840"/>
          </a:xfrm>
          <a:prstGeom prst="roundRect">
            <a:avLst>
              <a:gd name="adj" fmla="val 5455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976104" y="39319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Stamp the version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976104" y="424281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can be re-derived months later.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857232" y="5047488"/>
            <a:ext cx="1755648" cy="1005840"/>
          </a:xfrm>
          <a:prstGeom prst="roundRect">
            <a:avLst>
              <a:gd name="adj" fmla="val 5455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976104" y="51206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a reviewer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976104" y="543153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sits with a person, not the tool.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A6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40680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0320">
            <a:solidFill>
              <a:srgbClr val="1F4E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81328"/>
            <a:ext cx="5440680" cy="512064"/>
          </a:xfrm>
          <a:prstGeom prst="roundRect">
            <a:avLst>
              <a:gd name="adj" fmla="val 10714"/>
            </a:avLst>
          </a:prstGeom>
          <a:solidFill>
            <a:srgbClr val="1F4E68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81328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 &amp; frameworks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212140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LangChain · PyTorch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/ LoRA · Sentence-Transformers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· rank_bm25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481328"/>
            <a:ext cx="5440680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0320">
            <a:solidFill>
              <a:srgbClr val="1F4E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481328"/>
            <a:ext cx="5440680" cy="512064"/>
          </a:xfrm>
          <a:prstGeom prst="roundRect">
            <a:avLst>
              <a:gd name="adj" fmla="val 10714"/>
            </a:avLst>
          </a:prstGeom>
          <a:solidFill>
            <a:srgbClr val="1F4E68"/>
          </a:solidFill>
          <a:ln/>
        </p:spPr>
      </p:sp>
      <p:sp>
        <p:nvSpPr>
          <p:cNvPr id="10" name="Text 8"/>
          <p:cNvSpPr/>
          <p:nvPr/>
        </p:nvSpPr>
        <p:spPr>
          <a:xfrm>
            <a:off x="6391656" y="1481328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NLP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91656" y="212140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 Mini, LoRA/PEFT fine-tuned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Hierarchy-aware statutory chunking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 + dense retrieval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Indic translation layer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440680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0320">
            <a:solidFill>
              <a:srgbClr val="9C3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49040"/>
            <a:ext cx="5440680" cy="512064"/>
          </a:xfrm>
          <a:prstGeom prst="roundRect">
            <a:avLst>
              <a:gd name="adj" fmla="val 10714"/>
            </a:avLst>
          </a:prstGeom>
          <a:solidFill>
            <a:srgbClr val="9C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74904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&amp; backend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8096" y="43891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Python rules engine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YAML/JSON decision table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in the decision path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· PostgreSQL · MongoDB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5440680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0320">
            <a:solidFill>
              <a:srgbClr val="2F6B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749040"/>
            <a:ext cx="5440680" cy="512064"/>
          </a:xfrm>
          <a:prstGeom prst="roundRect">
            <a:avLst>
              <a:gd name="adj" fmla="val 10714"/>
            </a:avLst>
          </a:prstGeom>
          <a:solidFill>
            <a:srgbClr val="2F6B4F"/>
          </a:solidFill>
          <a:ln/>
        </p:spPr>
      </p:sp>
      <p:sp>
        <p:nvSpPr>
          <p:cNvPr id="18" name="Text 16"/>
          <p:cNvSpPr/>
          <p:nvPr/>
        </p:nvSpPr>
        <p:spPr>
          <a:xfrm>
            <a:off x="6391656" y="374904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Frontend, evaluation &amp; governance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91656" y="43891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responsive dashboard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retrieval evaluation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Golden-set correctness harness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Statute-version stamping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· on-premise option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legally operative step is executed by deterministic code. The language model is confined to extraction and retrieval — it is never in the decision path.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A6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claims, measured two different 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tells us whether the generated text is faithful to the retrieved context. </a:t>
            </a:r>
            <a:r>
              <a:rPr lang="en-US" sz="1300" b="1" dirty="0">
                <a:solidFill>
                  <a:srgbClr val="9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nothing about whether the eligibility conclusion is legally correct.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70048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0320">
            <a:solidFill>
              <a:srgbClr val="9C3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70662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Rules-engine correctness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90779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hand-built golden set of 150–200 cases with legally verified expected outputs, covering s.479(2) multiple-case scenarios, death/life exclusions, first-time-offender ⅓ cases and special-statute bars. Per-gate accuracy plus exact-match; every failure published.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60273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 quality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380390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 and F1 on offence and section extraction against a manually annotated held-out set.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4462272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4988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quality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470001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faithfulness, answer relevancy and context precision, plus Recall@k and MRR against queries with known statutory targets.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5358384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53949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metrics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559612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 per case, abstention rate, and the proportion of cases routed to human review.</a:t>
            </a:r>
            <a:endParaRPr lang="en-US" sz="9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263640" y="1371600"/>
          <a:ext cx="539496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6263640" y="4617720"/>
            <a:ext cx="5394960" cy="1298448"/>
          </a:xfrm>
          <a:prstGeom prst="roundRect">
            <a:avLst>
              <a:gd name="adj" fmla="val 4225"/>
            </a:avLst>
          </a:prstGeom>
          <a:solidFill>
            <a:srgbClr val="F8F3E7"/>
          </a:solidFill>
          <a:ln w="19050">
            <a:solidFill>
              <a:srgbClr val="B08D3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73952" y="4718304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carefully: </a:t>
            </a:r>
            <a:r>
              <a:rPr lang="en-US" sz="10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systems predict bail </a:t>
            </a:r>
            <a:r>
              <a:rPr lang="en-US" sz="1050" i="1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r>
              <a:rPr lang="en-US" sz="10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different task from computing a statutory entitlement, so the figures are not our target. What matters is the last bar: adding retrieval naively to the IBPS baseline </a:t>
            </a:r>
            <a:r>
              <a:rPr lang="en-US" sz="1050" b="1" dirty="0">
                <a:solidFill>
                  <a:srgbClr val="9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r>
              <a:rPr lang="en-US" sz="10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accuracy from 0.47 to 0.33. Retrieval augmentation is not free, and must be measured rather than assumed.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Kapoor et al., HLDC (Findings of ACL 2022); Srivastava et al., IBPS (arXiv:2508.07592). See references slide.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A6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RESPONSIBLE-AI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so that being wrong cannot cost someone their liberty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45920"/>
            <a:ext cx="384048" cy="384048"/>
          </a:xfrm>
          <a:prstGeom prst="ellipse">
            <a:avLst/>
          </a:prstGeom>
          <a:solidFill>
            <a:srgbClr val="1F4E68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89888" y="147218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Facilitator, never decision-maker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09160" y="1472184"/>
            <a:ext cx="6720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in the UI, in every report header, and in the API contract. The tool produces computations and citations for a human to act 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578608"/>
            <a:ext cx="384048" cy="384048"/>
          </a:xfrm>
          <a:prstGeom prst="ellipse">
            <a:avLst/>
          </a:prstGeom>
          <a:solidFill>
            <a:srgbClr val="9C3A2E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89888" y="24048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scoring of discretion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2404872"/>
            <a:ext cx="6720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risk and witness influence are checklist items reproduced verbatim, never weights. This also removes the principal fairness-audit surface — and undertrial populations skew toward marginalised communities.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11296"/>
            <a:ext cx="384048" cy="384048"/>
          </a:xfrm>
          <a:prstGeom prst="ellipse">
            <a:avLst/>
          </a:prstGeom>
          <a:solidFill>
            <a:srgbClr val="9C3A2E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89888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Asymmetric error design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3337560"/>
            <a:ext cx="6720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"ineligible" output state. The negative case is "no entitlement identified — human review required", with every gate that fired shown.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1538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443984"/>
            <a:ext cx="384048" cy="384048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89888" y="42702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 and audit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9160" y="4270248"/>
            <a:ext cx="6720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is stamped with the statute version and in-force date, the inputs used, a timestamp, and a named human-reviewer field. An immutable log records which rules fired.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14807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376672"/>
            <a:ext cx="384048" cy="384048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376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89888" y="520293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 (DPDP Act, 2023)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09160" y="5202936"/>
            <a:ext cx="6720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Charge-sheet material is sensitive personal data. Data minimisation, purpose limitation, defined retention, redaction before training, and an on-premise option so identifiable data need not leave the institution.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6126480"/>
            <a:ext cx="11064240" cy="914"/>
          </a:xfrm>
          <a:prstGeom prst="roundRect">
            <a:avLst>
              <a:gd name="adj" fmla="val 60026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deployment claim: a pilot with one District Legal Services Authority and one district jail supporting UTRC workflow — not a national impact claim.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A6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 — and how this project differs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42416"/>
          </a:xfrm>
          <a:prstGeom prst="roundRect">
            <a:avLst>
              <a:gd name="adj" fmla="val 5263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54533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HLDC — Hindi Legal Documents Corpus, Findings of ACL 2022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023360" y="1545336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912,568 district-court documents; 176,849 bail documents; binary bail-outcome prediction; best reported ≈0.80 accuracy / 0.78 F1.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01000" y="1545336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outcome a judge reached. We compute a statutory entitlement. Used here as a public corpus for extraction training, not as an outcome model.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1106424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697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IBPS — Indian Bail Prediction System (arXiv:2508.07592)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23360" y="26974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150,430 High Court bail judgments across five High Courts; Phi-4 with QLoRA; outcome prediction with generated explanation; best accuracy 0.79.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01000" y="2697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distinction. Its finding that naive RAG degraded the baseline directly shapes our hybrid-retrieval and evaluation design.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785616"/>
            <a:ext cx="11064240" cy="1042416"/>
          </a:xfrm>
          <a:prstGeom prst="roundRect">
            <a:avLst>
              <a:gd name="adj" fmla="val 5263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384962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IL-TUR (arXiv:2407.05399)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23360" y="384962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suite for Indian legal text understanding and reasoning.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01000" y="3849624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 of evaluation methodology for the extraction layer.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6424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50017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ICJS · e-Prisons / BOMS · FASTER · UTRCs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023360" y="500176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systems that link agencies, manage prisons and transmit bail and release orders.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01000" y="500176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move records and orders. None computes entitlement. Integration targets, not competitors.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68096" y="12161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023360" y="12161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01000" y="12161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DIFFER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A6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plan and ownership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2615184" cy="36118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20320">
            <a:solidFill>
              <a:srgbClr val="1F4E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44752"/>
            <a:ext cx="2615184" cy="841248"/>
          </a:xfrm>
          <a:prstGeom prst="roundRect">
            <a:avLst>
              <a:gd name="adj" fmla="val 6522"/>
            </a:avLst>
          </a:prstGeom>
          <a:solidFill>
            <a:srgbClr val="1F4E68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179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Vallamalla Abhishek Prakash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1938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237Y1A66C5  ·  Team lead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2432304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decision table: s.479 in full + Antil categories + special-statute bars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test set design and review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and documentation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46704" y="1444752"/>
            <a:ext cx="2615184" cy="36118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20320">
            <a:solidFill>
              <a:srgbClr val="1F4E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46704" y="1444752"/>
            <a:ext cx="2615184" cy="841248"/>
          </a:xfrm>
          <a:prstGeom prst="roundRect">
            <a:avLst>
              <a:gd name="adj" fmla="val 6522"/>
            </a:avLst>
          </a:prstGeom>
          <a:solidFill>
            <a:srgbClr val="1F4E68"/>
          </a:solidFill>
          <a:ln/>
        </p:spPr>
      </p:sp>
      <p:sp>
        <p:nvSpPr>
          <p:cNvPr id="11" name="Text 9"/>
          <p:cNvSpPr/>
          <p:nvPr/>
        </p:nvSpPr>
        <p:spPr>
          <a:xfrm>
            <a:off x="3511296" y="15179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Revuru Arya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11296" y="1938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237Y1A66CD0  ·  Layer 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11296" y="2432304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corpus ingestion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Hierarchy-aware chunking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 + dense retrieval, FAISS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Statute versioning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44768" y="1444752"/>
            <a:ext cx="2615184" cy="36118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20320">
            <a:solidFill>
              <a:srgbClr val="1F4E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4768" y="1444752"/>
            <a:ext cx="2615184" cy="841248"/>
          </a:xfrm>
          <a:prstGeom prst="roundRect">
            <a:avLst>
              <a:gd name="adj" fmla="val 6522"/>
            </a:avLst>
          </a:prstGeom>
          <a:solidFill>
            <a:srgbClr val="1F4E68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5179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Modhumpally Arvind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1938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237Y1A66C9  ·  Layer B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2432304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Charge-sheet parsing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 Mini LoRA/PEFT fine-tuning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sourcing and redaction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P/R/F1 report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42832" y="1444752"/>
            <a:ext cx="2615184" cy="36118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20320">
            <a:solidFill>
              <a:srgbClr val="9C3A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42832" y="1444752"/>
            <a:ext cx="2615184" cy="841248"/>
          </a:xfrm>
          <a:prstGeom prst="roundRect">
            <a:avLst>
              <a:gd name="adj" fmla="val 6522"/>
            </a:avLst>
          </a:prstGeom>
          <a:solidFill>
            <a:srgbClr val="9C3A2E"/>
          </a:solidFill>
          <a:ln/>
        </p:spPr>
      </p:sp>
      <p:sp>
        <p:nvSpPr>
          <p:cNvPr id="21" name="Text 19"/>
          <p:cNvSpPr/>
          <p:nvPr/>
        </p:nvSpPr>
        <p:spPr>
          <a:xfrm>
            <a:off x="9107424" y="15179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Boru Vimala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07424" y="1938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237Y1A66I3  ·  Layers C &amp; UI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07424" y="2432304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engine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s.479(3) application generation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DF1F5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5376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 </a:t>
            </a: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 RAG pipeline · RAGAs evaluation harness · golden-set labelling and cross-review. Every labelled case is checked by a second member before it enters the test set.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31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be able to defend at the end of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47872" cy="1371600"/>
          </a:xfrm>
          <a:prstGeom prst="roundRect">
            <a:avLst>
              <a:gd name="adj" fmla="val 4000"/>
            </a:avLst>
          </a:prstGeom>
          <a:solidFill>
            <a:srgbClr val="17405F"/>
          </a:solidFill>
          <a:ln w="15240">
            <a:solidFill>
              <a:srgbClr val="2C5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1396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eligibility reports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8096" y="2596896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Section-wise, provision-cited, statute-version stamped, with a named reviewer field.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79392" y="2011680"/>
            <a:ext cx="3547872" cy="1371600"/>
          </a:xfrm>
          <a:prstGeom prst="roundRect">
            <a:avLst>
              <a:gd name="adj" fmla="val 4000"/>
            </a:avLst>
          </a:prstGeom>
          <a:solidFill>
            <a:srgbClr val="17405F"/>
          </a:solidFill>
          <a:ln w="15240">
            <a:solidFill>
              <a:srgbClr val="2C5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8848" y="21396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Auto-drafted s.479(3) applications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98848" y="2596896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the jail Superintendent’s signature, plus UTRC-ready candidate lists.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10144" y="2011680"/>
            <a:ext cx="3547872" cy="1371600"/>
          </a:xfrm>
          <a:prstGeom prst="roundRect">
            <a:avLst>
              <a:gd name="adj" fmla="val 4000"/>
            </a:avLst>
          </a:prstGeom>
          <a:solidFill>
            <a:srgbClr val="17405F"/>
          </a:solidFill>
          <a:ln w="15240">
            <a:solidFill>
              <a:srgbClr val="2C5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21396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First-time-offender identification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2596896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surfacing of the one-third route, which remains under-invoked.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84448"/>
            <a:ext cx="3547872" cy="1371600"/>
          </a:xfrm>
          <a:prstGeom prst="roundRect">
            <a:avLst>
              <a:gd name="adj" fmla="val 4000"/>
            </a:avLst>
          </a:prstGeom>
          <a:solidFill>
            <a:srgbClr val="17405F"/>
          </a:solidFill>
          <a:ln w="15240">
            <a:solidFill>
              <a:srgbClr val="2C5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71246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Verbatim precedent extracts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" y="4169664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and paragraph, never a generated headnote.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79392" y="3584448"/>
            <a:ext cx="3547872" cy="1371600"/>
          </a:xfrm>
          <a:prstGeom prst="roundRect">
            <a:avLst>
              <a:gd name="adj" fmla="val 4000"/>
            </a:avLst>
          </a:prstGeom>
          <a:solidFill>
            <a:srgbClr val="17405F"/>
          </a:solidFill>
          <a:ln w="15240">
            <a:solidFill>
              <a:srgbClr val="2C5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8848" y="371246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plug-and-play REST 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98848" y="4169664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Alignable with ICJS and e-Prisons deployments.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10144" y="3584448"/>
            <a:ext cx="3547872" cy="1371600"/>
          </a:xfrm>
          <a:prstGeom prst="roundRect">
            <a:avLst>
              <a:gd name="adj" fmla="val 4000"/>
            </a:avLst>
          </a:prstGeom>
          <a:solidFill>
            <a:srgbClr val="17405F"/>
          </a:solidFill>
          <a:ln w="15240">
            <a:solidFill>
              <a:srgbClr val="2C5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71246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separate reliability figures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4169664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Rules-engine accuracy against the golden set, and RAGAs retrieval faithfulness.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28523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7405F"/>
          </a:solidFill>
          <a:ln w="20320">
            <a:solidFill>
              <a:srgbClr val="B08D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39496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not claim: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accuracy figure without a labelled set behind it · any percentage reduction in bail delays without a pilot · that no such tool exists · that the system predicts bail outcomes. We are not building that, and we should not.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A6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— ALL RETRIEVED AND CHECKED AUGUST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BNSS 2023, s.479 — bare-act text: apnilaw.com/bare-act/bnss/section-479-…  ·  indiankanoon.org/doc/87702491/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Satender Kumar Antil v. CBI (11 July 2022) — indiankanoon.org/doc/7148380/  ·  livelaw.in/pdf_upload/577-satender-kumar-antil-…pdf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Categories A–D explained — corporate.cyrilamarchandblogs.com/2022/08/bail-or-jail-…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“When Exceptions Swallow The Rule: Problem With Section 479 BNSS” — livelaw.in/articles/when-exceptions-swallow-rule-problem-section-479-bnss-307288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“Analysing the remedy of bail under Section 479 of BNSS” — barandbench.com/columns/analysing-the-remedy-of-bail-under-section-479-of-bnss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K. Ramakrishna v. Directorate of Enforcement, Karnataka HC, 23 Nov 2024 — lawweb.in/2025/07/karnataka-hc-no-bail-us-4791-bnss-on.html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Badshah Majid Malik v. ED, SC, 27 Dec 2024 — knallp.com/supreme-court-settles-the-applicability-of-section-479-of-bnss-to-pmla-prosecutions-…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In Re: Inhuman Conditions in 1382 Prisons, W.P.(C) 406/2013, order 23 Aug 2024 — indiankanoon.org/doc/4389693/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MHA Advisory No. 17013/20/2024-PR, 24 Oct 2024 — mha.gov.in/sites/default/files/PrisonBNSS_25102024.pdf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PIB, “Release of Prolonged Under-Trial Prisoners” (951 identified / 334 granted bail as on 26.11.2024) — pib.gov.in/PressReleasePage.aspx?PRID=2117796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 Open Government Data — State/UT-wise eligible prisoners under s.479 BNSS as on 26-11-2024 — data.gov.in/resource/stateut-wise-number-eligible-prisoners-…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 NCRB, Prison Statistics India 2024 — drishtiias.com/daily-updates/daily-news-analysis/prison-statistics-india-report-2024  ·  dailyexcelsior.com/indias-prisons-reach-112-7-pc-occupancy-in-2024-…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 Law Commission of India, Report No. 268 (May 2017) — taxguru.in/wp-content/uploads/2017/06/Report-No.268.pdf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 Kapoor et al., “HLDC: Hindi Legal Documents Corpus”, Findings of ACL 2022 — aclanthology.org/2022.findings-acl.278.pdf  ·  github.com/Exploration-Lab/HLDC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 Srivastava et al., “IBPS: Indian Bail Prediction System”, arXiv:2508.07592 — arxiv.org/html/2508.07592v2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 “IL-TUR: Benchmark for Indian Legal Text Understanding and Reasoning”, arXiv:2407.05399 — arxiv.org/html/2407.05399v1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 FASTER — livelaw.in/top-stories/faster-release-of-prisoners-after-bail-…-182327  ·  ICJS — scconline.com/blog/post/2025/12/20/allahabad-hc-…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 NALSA to SC: undertrials in jail despite bail — deccanherald.com/india/5000-undertrial-prisoners-in-jail-despite-being-granted-bail-…-1186583.html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 Digital Personal Data Protection Act, 2023 — meity.gov.in/static/uploads/2024/06/2bf1f0e9f04e6fb4f8fef35e82c42aa5.pdf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 Smart India Hackathon — sih.gov.in  ·  SIH 2024 problem-statement list (entry SIH1702) — driems.ac.in/wp-content/uploads/2024/08/SIH_2024_PS.pdf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bibliographic entries with complete URLs are in the Extended Project Abstract, section 12.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3010</Words>
  <Application>Microsoft Office PowerPoint</Application>
  <PresentationFormat>Widescreen</PresentationFormat>
  <Paragraphs>326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Bail Reckoner</dc:title>
  <dc:subject>PptxGenJS Presentation</dc:subject>
  <dc:creator>Bail Reckoner Project Team — MLRITM</dc:creator>
  <cp:lastModifiedBy>Admin</cp:lastModifiedBy>
  <cp:revision>2</cp:revision>
  <dcterms:created xsi:type="dcterms:W3CDTF">2026-08-12T14:39:19Z</dcterms:created>
  <dcterms:modified xsi:type="dcterms:W3CDTF">2026-08-12T15:27:40Z</dcterms:modified>
</cp:coreProperties>
</file>